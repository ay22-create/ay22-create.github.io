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02"/>
    <p:restoredTop sz="94610"/>
  </p:normalViewPr>
  <p:slideViewPr>
    <p:cSldViewPr snapToGrid="0" snapToObjects="1">
      <p:cViewPr varScale="1">
        <p:scale>
          <a:sx n="203" d="100"/>
          <a:sy n="203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Practo Refer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E0B2-6342-A9DD-5BB455A9CB2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8D-A640-A5E3-2DD6181286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Surgery Mktpl</c:v>
                </c:pt>
              </c:strCache>
            </c:strRef>
          </c:tx>
          <c:spPr>
            <a:solidFill>
              <a:srgbClr val="3B9EC4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1.2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0B2-6342-A9DD-5BB455A9CB2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7.2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0B2-6342-A9DD-5BB455A9CB2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0B2-6342-A9DD-5BB455A9CB2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30</c:v>
                </c:pt>
                <c:pt idx="2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8D-A640-A5E3-2DD61812861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Practo Chronic+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32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0B2-6342-A9DD-5BB455A9CB2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57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0B2-6342-A9DD-5BB455A9CB2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17</c:v>
                </c:pt>
                <c:pt idx="1">
                  <c:v>68</c:v>
                </c:pt>
                <c:pt idx="2">
                  <c:v>141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58D-A640-A5E3-2DD6181286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₹ Crore (Practo Commission)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6860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40000">
            <a:off x="-457200" y="3474720"/>
            <a:ext cx="10058400" cy="36576"/>
          </a:xfrm>
          <a:prstGeom prst="rect">
            <a:avLst/>
          </a:prstGeom>
          <a:solidFill>
            <a:srgbClr val="3B9EC4">
              <a:alpha val="30000"/>
            </a:srgbClr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-240000">
            <a:off x="-457200" y="4114800"/>
            <a:ext cx="10058400" cy="27432"/>
          </a:xfrm>
          <a:prstGeom prst="rect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0"/>
            <a:ext cx="54864" cy="5143500"/>
          </a:xfrm>
          <a:prstGeom prst="rect">
            <a:avLst/>
          </a:prstGeom>
          <a:solidFill>
            <a:srgbClr val="3B9EC4">
              <a:alpha val="60000"/>
            </a:srgbClr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5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 ×  SSB STRATEGY COMPETITION  ·  GROUP 04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Invisible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Gap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Practo captures high-value healthcare transactions that currently bypass the platform entirely — through three operationally grounded, monetization-first initiatives.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938528" cy="274320"/>
          </a:xfrm>
          <a:prstGeom prst="rect">
            <a:avLst/>
          </a:prstGeom>
          <a:solidFill>
            <a:srgbClr val="254D8F"/>
          </a:solidFill>
          <a:ln w="1016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Refer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33472" y="3749040"/>
            <a:ext cx="1938528" cy="274320"/>
          </a:xfrm>
          <a:prstGeom prst="rect">
            <a:avLst/>
          </a:prstGeom>
          <a:solidFill>
            <a:srgbClr val="254D8F"/>
          </a:solidFill>
          <a:ln w="1016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33472" y="374904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Marketplace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18304" y="3749040"/>
            <a:ext cx="1938528" cy="274320"/>
          </a:xfrm>
          <a:prstGeom prst="rect">
            <a:avLst/>
          </a:prstGeom>
          <a:solidFill>
            <a:srgbClr val="254D8F"/>
          </a:solidFill>
          <a:ln w="1016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18304" y="374904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Chronic+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03136" y="3749040"/>
            <a:ext cx="1938528" cy="274320"/>
          </a:xfrm>
          <a:prstGeom prst="rect">
            <a:avLst/>
          </a:prstGeom>
          <a:solidFill>
            <a:srgbClr val="254D8F"/>
          </a:solidFill>
          <a:ln w="1016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03136" y="374904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Month Roadmap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6817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Aadarsh Uniyal  ·  Adwitiya Yadav  ·  Anshul Kashyap  ·  Dr. Charles Chacko  ·  Chiranjeevi Bhoyar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8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to know before this deck ends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59536"/>
            <a:ext cx="8321040" cy="22860"/>
          </a:xfrm>
          <a:prstGeom prst="rect">
            <a:avLst/>
          </a:prstGeom>
          <a:solidFill>
            <a:srgbClr val="5AB4D4"/>
          </a:solidFill>
          <a:ln w="1270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2029968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2029968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9496" y="1152144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9496" y="1426464"/>
            <a:ext cx="1773936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9496" y="1517904"/>
            <a:ext cx="177393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1.7% of specialist &amp; surgery decisions happen via app. 77% are driven by offline physician and family referrals — confirmed by audited annual reports from Fortis, Aster, Max, and Apollo.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987552"/>
            <a:ext cx="2029968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14600" y="987552"/>
            <a:ext cx="2029968" cy="54864"/>
          </a:xfrm>
          <a:prstGeom prst="rect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42616" y="1152144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42616" y="1426464"/>
            <a:ext cx="1773936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42616" y="1517904"/>
            <a:ext cx="177393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is absent from the referral chain. Price opacity forces patients to call hospitals directly. The platform owns discovery — not the decision moment where high-value transactions are captured.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987552"/>
            <a:ext cx="2029968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17720" y="987552"/>
            <a:ext cx="202996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45736" y="1152144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45736" y="1426464"/>
            <a:ext cx="1773936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45736" y="1517904"/>
            <a:ext cx="177393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Refer (GP-to-specialist referral routing, capturing secondary GMV), Surgery Pricing Marketplace (transparent comparison + escrow, capturing tertiary GMV), Practo Chronic+ (recurring commission on primary + secondary care journeys). Coordination infrastructure, not features.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987552"/>
            <a:ext cx="2029968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20840" y="987552"/>
            <a:ext cx="202996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48856" y="1152144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48856" y="1426464"/>
            <a:ext cx="1773936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48856" y="1517904"/>
            <a:ext cx="177393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₹90–130 Cr expected Practo revenue by Year 3. Coordination is where the ₹20,000 commissions live — 400× more per transaction than a GP consultation. Surgery captures the highest-value entry point. Chronic+ builds the largest recurring pool.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800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revenue figures = Practo commission earnings (not GMV).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5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3774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8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PRACTO MISSES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in India, a patient with knee pain sits across from a GP.
</a:t>
            </a: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GP says: </a:t>
            </a: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Dr. Sharma at XYZ Hospital.
</a:t>
            </a:r>
            <a:r>
              <a:rPr lang="en-US" sz="13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says: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okay.
</a:t>
            </a: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leave. They call the hospital.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book the appointment. They pay for the surgery.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23560" y="475488"/>
            <a:ext cx="3108960" cy="2487168"/>
          </a:xfrm>
          <a:prstGeom prst="rect">
            <a:avLst/>
          </a:prstGeom>
          <a:solidFill>
            <a:srgbClr val="F5A623"/>
          </a:solidFill>
          <a:ln w="12700">
            <a:solidFill>
              <a:srgbClr val="E09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23560" y="71323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23560" y="120700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F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none of it.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897880" y="1755648"/>
            <a:ext cx="2560320" cy="22860"/>
          </a:xfrm>
          <a:prstGeom prst="rect">
            <a:avLst/>
          </a:prstGeom>
          <a:solidFill>
            <a:srgbClr val="254D8F"/>
          </a:solidFill>
          <a:ln w="12700">
            <a:solidFill>
              <a:srgbClr val="254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23560" y="18470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0F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product failure.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i="1" dirty="0">
                <a:solidFill>
                  <a:srgbClr val="0F2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positioning failure.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01568"/>
            <a:ext cx="8229600" cy="1078992"/>
          </a:xfrm>
          <a:prstGeom prst="rect">
            <a:avLst/>
          </a:prstGeom>
          <a:solidFill>
            <a:srgbClr val="254D8F"/>
          </a:solidFill>
          <a:ln w="762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584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offline referral chain handles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54680" y="340156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462272" y="35844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specialist &amp; surgery decisions in India.  Practo is not in that chain.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773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India, the first call in an emergency isn't to the hospital. It's to the doctor in the family."  ·  Source: Primary survey (n=178), directionally confirmed by Fortis, Aster, Max, Apollo audited annual reports.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8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REALITY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274320" y="420624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1.7%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274320" y="254203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specialist &amp; surgery decisions in India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 through a healthcare app.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23560" y="402336"/>
            <a:ext cx="3108960" cy="4069080"/>
          </a:xfrm>
          <a:prstGeom prst="rect">
            <a:avLst/>
          </a:prstGeom>
          <a:solidFill>
            <a:srgbClr val="EBF6FC"/>
          </a:solidFill>
          <a:ln w="1016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23560" y="402336"/>
            <a:ext cx="3108960" cy="54864"/>
          </a:xfrm>
          <a:prstGeom prst="rect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0" y="6583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0" y="9601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760720" y="199339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the way it always has 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through referrals,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phone.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2944368"/>
            <a:ext cx="2468880" cy="22860"/>
          </a:xfrm>
          <a:prstGeom prst="rect">
            <a:avLst/>
          </a:prstGeom>
          <a:solidFill>
            <a:srgbClr val="D0DFED"/>
          </a:solidFill>
          <a:ln w="12700">
            <a:solidFill>
              <a:srgbClr val="D0D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3017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survey insight (n=178). Confirmed by audited annual reports — Fortis, Aster, Max &amp; Apollo.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4526280"/>
            <a:ext cx="8321040" cy="365760"/>
          </a:xfrm>
          <a:prstGeom prst="rect">
            <a:avLst/>
          </a:prstGeom>
          <a:solidFill>
            <a:srgbClr val="FEF4E0"/>
          </a:solidFill>
          <a:ln w="889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45445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number. The entire strategic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8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CONTEXT  ·  N=178  ·  APRIL–MAY 2026  ·  OBSERVATIONAL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is real. The commercial opportunity is structural.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22860"/>
          </a:xfrm>
          <a:prstGeom prst="rect">
            <a:avLst/>
          </a:prstGeom>
          <a:solidFill>
            <a:srgbClr val="5AB4D4"/>
          </a:solidFill>
          <a:ln w="1270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402336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54864" cy="3703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15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CONDITIONS IN SAMPLE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353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respondents reported at least one recurring condition.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231136"/>
            <a:ext cx="3520440" cy="155448"/>
          </a:xfrm>
          <a:prstGeom prst="rect">
            <a:avLst/>
          </a:prstGeom>
          <a:solidFill>
            <a:srgbClr val="D6EDF6"/>
          </a:solidFill>
          <a:ln w="12700">
            <a:solidFill>
              <a:srgbClr val="D6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231136"/>
            <a:ext cx="2077060" cy="1554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724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035808"/>
            <a:ext cx="3520440" cy="155448"/>
          </a:xfrm>
          <a:prstGeom prst="rect">
            <a:avLst/>
          </a:prstGeom>
          <a:solidFill>
            <a:srgbClr val="D6EDF6"/>
          </a:solidFill>
          <a:ln w="12700">
            <a:solidFill>
              <a:srgbClr val="D6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" y="3035808"/>
            <a:ext cx="1901038" cy="1554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529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5295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3840480"/>
            <a:ext cx="3520440" cy="155448"/>
          </a:xfrm>
          <a:prstGeom prst="rect">
            <a:avLst/>
          </a:prstGeom>
          <a:solidFill>
            <a:srgbClr val="D6EDF6"/>
          </a:solidFill>
          <a:ln w="12700">
            <a:solidFill>
              <a:srgbClr val="D6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4360" y="3840480"/>
            <a:ext cx="1126541" cy="1554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NCD burden: 76% of deaths in 2019 → projected 84% by 2030</a:t>
            </a:r>
            <a:endParaRPr lang="en-US" sz="8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Aster DM Healthcare FY25 Annual Report, citing ICMR.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987552"/>
            <a:ext cx="397764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987552"/>
            <a:ext cx="54864" cy="3703320"/>
          </a:xfrm>
          <a:prstGeom prst="rect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1115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PATTERNS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937760" y="14813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5998464" y="15727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a sudden medical emergency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194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5998464" y="2286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 private vehicle / auto / cab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290779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5998464" y="29992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an ambulance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362102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E0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5998464" y="371246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 know who to call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4206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= 77.5% rounded  ·  Sample too small for national prevalence claims.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5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8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ECONOMICS  ·  PRACTO CASE STUDY ILLUSTRATIVE EXAMPLES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surgery booking earns more than 400 GP visits.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= highest entry-point value. Chronic recurring care = the largest long-term pool.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2377440" cy="3017520"/>
          </a:xfrm>
          <a:prstGeom prst="rect">
            <a:avLst/>
          </a:prstGeom>
          <a:solidFill>
            <a:srgbClr val="254D8F"/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2377440" cy="64008"/>
          </a:xfrm>
          <a:prstGeom prst="rect">
            <a:avLst/>
          </a:prstGeom>
          <a:solidFill>
            <a:schemeClr val="bg1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" y="171907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76656" y="208483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ticket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6656" y="230428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₹500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76656" y="2761488"/>
            <a:ext cx="2121408" cy="18288"/>
          </a:xfrm>
          <a:prstGeom prst="rect">
            <a:avLst/>
          </a:prstGeom>
          <a:solidFill>
            <a:srgbClr val="D6EDF6">
              <a:alpha val="40000"/>
            </a:srgbClr>
          </a:solidFill>
          <a:ln w="12700">
            <a:solidFill>
              <a:srgbClr val="D6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" y="285292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earns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3090672"/>
            <a:ext cx="212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76656" y="3657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booking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63240" y="1572768"/>
            <a:ext cx="2377440" cy="3017520"/>
          </a:xfrm>
          <a:prstGeom prst="rect">
            <a:avLst/>
          </a:prstGeom>
          <a:solidFill>
            <a:srgbClr val="254D8F"/>
          </a:solidFill>
          <a:ln w="1016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063240" y="1572768"/>
            <a:ext cx="2377440" cy="64008"/>
          </a:xfrm>
          <a:prstGeom prst="rect">
            <a:avLst/>
          </a:prstGeom>
          <a:solidFill>
            <a:srgbClr val="5AB4D4"/>
          </a:solidFill>
          <a:ln w="1270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91256" y="171907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5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91256" y="208483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ticket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91256" y="230428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₹3,000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191256" y="2761488"/>
            <a:ext cx="2121408" cy="18288"/>
          </a:xfrm>
          <a:prstGeom prst="rect">
            <a:avLst/>
          </a:prstGeom>
          <a:solidFill>
            <a:srgbClr val="D6EDF6">
              <a:alpha val="40000"/>
            </a:srgbClr>
          </a:solidFill>
          <a:ln w="12700">
            <a:solidFill>
              <a:srgbClr val="D6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91256" y="285292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earns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91256" y="3090672"/>
            <a:ext cx="212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191256" y="365760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booking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77840" y="1572768"/>
            <a:ext cx="3200400" cy="3017520"/>
          </a:xfrm>
          <a:prstGeom prst="rect">
            <a:avLst/>
          </a:prstGeom>
          <a:solidFill>
            <a:srgbClr val="254D8F"/>
          </a:solidFill>
          <a:ln w="1016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77840" y="1572768"/>
            <a:ext cx="32004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05856" y="171907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05856" y="208483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ticket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05856" y="2304288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₹2,00,000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705856" y="2761488"/>
            <a:ext cx="2944368" cy="18288"/>
          </a:xfrm>
          <a:prstGeom prst="rect">
            <a:avLst/>
          </a:prstGeom>
          <a:solidFill>
            <a:srgbClr val="D6EDF6">
              <a:alpha val="40000"/>
            </a:srgbClr>
          </a:solidFill>
          <a:ln w="12700">
            <a:solidFill>
              <a:srgbClr val="D6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05856" y="285292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earns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05856" y="3090672"/>
            <a:ext cx="2944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₹20,000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5705856" y="365760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booking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4681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₹20,000 ÷ ₹50 =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99232" y="455371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400×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389120" y="46817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per transaction  ·  Source: Practo case study (illustrative examples)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8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DISCOVERY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assumed vs. what deeper analysis revealed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22860"/>
          </a:xfrm>
          <a:prstGeom prst="rect">
            <a:avLst/>
          </a:prstGeom>
          <a:solidFill>
            <a:srgbClr val="5AB4D4"/>
          </a:solidFill>
          <a:ln w="1270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352044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3520440" cy="54864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9496" y="11155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ASSUMED PROBLEM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76072" y="1545336"/>
            <a:ext cx="201168" cy="201168"/>
          </a:xfrm>
          <a:prstGeom prst="lin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5087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fragmented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8013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can't share history in emergencies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" y="2551176"/>
            <a:ext cx="201168" cy="201168"/>
          </a:xfrm>
          <a:prstGeom prst="lin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14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access broken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8072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number to call during a crisis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" y="3557016"/>
            <a:ext cx="201168" cy="201168"/>
          </a:xfrm>
          <a:prstGeom prst="lin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520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UX too complex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813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steps to complete an online booking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86784" y="2578608"/>
            <a:ext cx="117043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58768" y="21762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0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→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21808" y="987552"/>
            <a:ext cx="3410712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21808" y="987552"/>
            <a:ext cx="3410712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49824" y="111556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PROBLEM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49824" y="1545336"/>
            <a:ext cx="201168" cy="201168"/>
          </a:xfrm>
          <a:prstGeom prst="lin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42432" y="15087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referral moment is offline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42432" y="18013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recommend specialists verbally — Practo is absent from that room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49824" y="2551176"/>
            <a:ext cx="201168" cy="201168"/>
          </a:xfrm>
          <a:prstGeom prst="lin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42432" y="2514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opacity forces phone calls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42432" y="28072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can't compare surgical costs — they call hospitals directly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49824" y="3557016"/>
            <a:ext cx="201168" cy="201168"/>
          </a:xfrm>
          <a:prstGeom prst="lin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742432" y="3520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≠ Decision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42432" y="38130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owns search. Not conversion. Not the ₹20,000 transaction.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8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EVIDENCE  ·  FOUR LISTED HOSPITAL GROUPS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need you to trust a 178-person survey. Trust their annual reports.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22860"/>
          </a:xfrm>
          <a:prstGeom prst="rect">
            <a:avLst/>
          </a:prstGeom>
          <a:solidFill>
            <a:srgbClr val="5AB4D4"/>
          </a:solidFill>
          <a:ln w="1270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2029968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2029968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9496" y="111556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FORTIS HEALTHCARE FY25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39496" y="1700784"/>
            <a:ext cx="109728" cy="109728"/>
          </a:xfrm>
          <a:prstGeom prst="lin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6093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₹7,783 Cr revenue  ·  13% YoY growth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9496" y="2386584"/>
            <a:ext cx="109728" cy="109728"/>
          </a:xfrm>
          <a:prstGeom prst="lin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2951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margin: 21.3%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9496" y="3072384"/>
            <a:ext cx="109728" cy="109728"/>
          </a:xfrm>
          <a:prstGeom prst="lin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9809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channel: +35.1% YoY — fastest acquisition channel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9496" y="3941064"/>
            <a:ext cx="1773936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9496" y="398678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FHL Annual Report 2024-25  ·  Audited: BSR &amp; Co. LLP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14600" y="987552"/>
            <a:ext cx="2029968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14600" y="987552"/>
            <a:ext cx="2029968" cy="54864"/>
          </a:xfrm>
          <a:prstGeom prst="rect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42616" y="111556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 DM HEALTHCARE FY25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42616" y="1700784"/>
            <a:ext cx="109728" cy="109728"/>
          </a:xfrm>
          <a:prstGeom prst="line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88920" y="16093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₹4,138 Cr revenue  ·  12% YoY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42616" y="2386584"/>
            <a:ext cx="109728" cy="109728"/>
          </a:xfrm>
          <a:prstGeom prst="line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88920" y="22951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ARPOB ₹45,000 per admission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42616" y="3072384"/>
            <a:ext cx="109728" cy="109728"/>
          </a:xfrm>
          <a:prstGeom prst="line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88920" y="29809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TPA/Insurance payer mix: 30% (+300 bps YoY)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42616" y="3941064"/>
            <a:ext cx="1773936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42616" y="398678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 Integrated Annual Report FY2024-25  ·  Deloitte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17720" y="987552"/>
            <a:ext cx="2029968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17720" y="987552"/>
            <a:ext cx="2029968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45736" y="111556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HEALTHCARE FY25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45736" y="1700784"/>
            <a:ext cx="109728" cy="109728"/>
          </a:xfrm>
          <a:prstGeom prst="lin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16093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₹7,028 Cr revenue  ·  30% YoY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45736" y="2386584"/>
            <a:ext cx="109728" cy="109728"/>
          </a:xfrm>
          <a:prstGeom prst="lin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92040" y="22951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Jaypee Healthcare (477 beds) acquired from CIRP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45736" y="3072384"/>
            <a:ext cx="109728" cy="109728"/>
          </a:xfrm>
          <a:prstGeom prst="lin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92040" y="29809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acquisition failure in Tier 2 — not clinical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45736" y="3941064"/>
            <a:ext cx="1773936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45736" y="398678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MHIL Consolidated Financials FY2024-25  ·  BSE/NSE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720840" y="987552"/>
            <a:ext cx="2029968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720840" y="987552"/>
            <a:ext cx="2029968" cy="54864"/>
          </a:xfrm>
          <a:prstGeom prst="rect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48856" y="111556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GROUP (REFERENCE)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48856" y="1700784"/>
            <a:ext cx="109728" cy="109728"/>
          </a:xfrm>
          <a:prstGeom prst="line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95160" y="16093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83,000+ orders per day across platform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48856" y="2386584"/>
            <a:ext cx="109728" cy="109728"/>
          </a:xfrm>
          <a:prstGeom prst="line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995160" y="22951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largest digital health footprint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848856" y="3072384"/>
            <a:ext cx="109728" cy="109728"/>
          </a:xfrm>
          <a:prstGeom prst="line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95160" y="29809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first-mover — still &lt;2% of tertiary decisions via app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848856" y="3941064"/>
            <a:ext cx="1773936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848856" y="398678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board outcome filing, May 2025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11480" y="4544568"/>
            <a:ext cx="8321040" cy="347472"/>
          </a:xfrm>
          <a:prstGeom prst="rect">
            <a:avLst/>
          </a:prstGeom>
          <a:solidFill>
            <a:srgbClr val="FEF4E0"/>
          </a:solidFill>
          <a:ln w="889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94360" y="45720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0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₹14,811 Cr+ in audited hospital revenue across four listed groups — all confirming the same structural gap.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5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solved healthcare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190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did not solve healthcare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24942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090672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that coordinates referrals, surgeries, continuity, and pricing will own how healthcare actually happens in India. Referrals → specialist data → better tertiary conversion → pricing intelligence → higher trust → retention → lower CAC → stronger referral intelligence → more referrals. Each loop compounds revenue, not just activity.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621792"/>
            <a:ext cx="1481328" cy="1097280"/>
          </a:xfrm>
          <a:prstGeom prst="rect">
            <a:avLst/>
          </a:prstGeom>
          <a:solidFill>
            <a:srgbClr val="254D8F"/>
          </a:solidFill>
          <a:ln w="762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806440" y="621792"/>
            <a:ext cx="1481328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97880" y="84124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routing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34072" y="621792"/>
            <a:ext cx="1481328" cy="1097280"/>
          </a:xfrm>
          <a:prstGeom prst="rect">
            <a:avLst/>
          </a:prstGeom>
          <a:solidFill>
            <a:srgbClr val="254D8F"/>
          </a:solidFill>
          <a:ln w="762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34072" y="621792"/>
            <a:ext cx="1481328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25512" y="841248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booking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06440" y="1975104"/>
            <a:ext cx="1481328" cy="1097280"/>
          </a:xfrm>
          <a:prstGeom prst="rect">
            <a:avLst/>
          </a:prstGeom>
          <a:solidFill>
            <a:srgbClr val="254D8F"/>
          </a:solidFill>
          <a:ln w="762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806440" y="1975104"/>
            <a:ext cx="1481328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97880" y="219456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continuity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34072" y="1975104"/>
            <a:ext cx="1481328" cy="1097280"/>
          </a:xfrm>
          <a:prstGeom prst="rect">
            <a:avLst/>
          </a:prstGeom>
          <a:solidFill>
            <a:srgbClr val="254D8F"/>
          </a:solidFill>
          <a:ln w="762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34072" y="1975104"/>
            <a:ext cx="1481328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25512" y="219456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transparency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is where Practo lives today.  Coordination is where it must go.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8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EVOLUTION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ideas that couldn't survive scrutiny towards short term implementation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22860"/>
          </a:xfrm>
          <a:prstGeom prst="rect">
            <a:avLst/>
          </a:prstGeom>
          <a:solidFill>
            <a:srgbClr val="5AB4D4"/>
          </a:solidFill>
          <a:ln w="1270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1106424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 ·  Centralized health records vault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1208" y="1408176"/>
            <a:ext cx="3895344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208" y="1481328"/>
            <a:ext cx="389534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has spent years building this — below 15% adoption in private hospitals. Solving a problem nobody actively maintains.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36008" y="100584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96128" y="1106424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 ·  One-tap ambulance booking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45736" y="1408176"/>
            <a:ext cx="3895344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45736" y="1481328"/>
            <a:ext cx="389534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fragmented operators in India. No unified commercial API. This is an M&amp;A decision requiring ₹500+ Cr minimum — not a product feature.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807208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71600" y="290779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 ·  Patient subscription at ₹999/month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1208" y="3209544"/>
            <a:ext cx="3895344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1208" y="3282696"/>
            <a:ext cx="389534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healthcare spend in sample: ₹50–₹2,000/month total. A ₹999 platform fee consumes 50–100% before a rupee of actual healthcare is purchased.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36008" y="2807208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96128" y="290779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 ·  Better booking UI / notifications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45736" y="3209544"/>
            <a:ext cx="3895344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45736" y="3282696"/>
            <a:ext cx="389534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happens before the booking attempt — patients call hospitals after finding them on Practo. Smoother UI cannot fix a referral chain problem.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5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8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  ·  ALL REVENUE = PRACTO COMMISSION EARNINGS (NOT GMV)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initiatives. One coordination infrastructure.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2697480" cy="3547872"/>
          </a:xfrm>
          <a:prstGeom prst="rect">
            <a:avLst/>
          </a:prstGeom>
          <a:solidFill>
            <a:srgbClr val="254D8F"/>
          </a:solidFill>
          <a:ln w="889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26974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6656" y="134416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76656" y="1865376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Refer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" y="219456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Digital Referral Network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76656" y="2505456"/>
            <a:ext cx="2441448" cy="18288"/>
          </a:xfrm>
          <a:prstGeom prst="rect">
            <a:avLst/>
          </a:prstGeom>
          <a:solidFill>
            <a:srgbClr val="D6EDF6">
              <a:alpha val="35000"/>
            </a:srgbClr>
          </a:solidFill>
          <a:ln w="12700">
            <a:solidFill>
              <a:srgbClr val="D6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" y="2596896"/>
            <a:ext cx="24414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infrastructure that feeds the flywheel. GP referrals digitized inside Ray — secondary GMV captured on platform, specialist data accumulated, tertiary conversion seeded. Low direct revenue; high strategic leverage.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6656" y="3995928"/>
            <a:ext cx="2441448" cy="18288"/>
          </a:xfrm>
          <a:prstGeom prst="rect">
            <a:avLst/>
          </a:prstGeom>
          <a:solidFill>
            <a:srgbClr val="F5A623">
              <a:alpha val="5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6656" y="407822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Y3: ₹5 Cr revenue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" y="433425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0–9 months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55848" y="1207008"/>
            <a:ext cx="2697480" cy="3547872"/>
          </a:xfrm>
          <a:prstGeom prst="rect">
            <a:avLst/>
          </a:prstGeom>
          <a:solidFill>
            <a:srgbClr val="254D8F"/>
          </a:solidFill>
          <a:ln w="889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55848" y="1207008"/>
            <a:ext cx="2697480" cy="64008"/>
          </a:xfrm>
          <a:prstGeom prst="rect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83864" y="134416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483864" y="1865376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Marketplace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83864" y="219456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 + Escrow Booking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83864" y="2505456"/>
            <a:ext cx="2441448" cy="18288"/>
          </a:xfrm>
          <a:prstGeom prst="rect">
            <a:avLst/>
          </a:prstGeom>
          <a:solidFill>
            <a:srgbClr val="D6EDF6">
              <a:alpha val="35000"/>
            </a:srgbClr>
          </a:solidFill>
          <a:ln w="12700">
            <a:solidFill>
              <a:srgbClr val="D6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83864" y="2596896"/>
            <a:ext cx="24414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compare real surgical prices across hospitals and book with escrow through Practo. Eliminates price-opacity barrier. Fortis and Aster already accept TPA deductions — commission at 7–10% is structurally competitive.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83864" y="3995928"/>
            <a:ext cx="2441448" cy="18288"/>
          </a:xfrm>
          <a:prstGeom prst="rect">
            <a:avLst/>
          </a:prstGeom>
          <a:solidFill>
            <a:srgbClr val="3B9EC4">
              <a:alpha val="50000"/>
            </a:srgbClr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83864" y="407822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₹36–72 Cr revenue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83864" y="433425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9–18 months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63056" y="1207008"/>
            <a:ext cx="2697480" cy="3547872"/>
          </a:xfrm>
          <a:prstGeom prst="rect">
            <a:avLst/>
          </a:prstGeom>
          <a:solidFill>
            <a:srgbClr val="254D8F"/>
          </a:solidFill>
          <a:ln w="889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63056" y="1207008"/>
            <a:ext cx="2697480" cy="64008"/>
          </a:xfrm>
          <a:prstGeom prst="rect">
            <a:avLst/>
          </a:prstGeom>
          <a:solidFill>
            <a:srgbClr val="5AB4D4"/>
          </a:solidFill>
          <a:ln w="1270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91072" y="134416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5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291072" y="1865376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Chronic+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91072" y="219456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Commission on Care Journeys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91072" y="2505456"/>
            <a:ext cx="2441448" cy="18288"/>
          </a:xfrm>
          <a:prstGeom prst="rect">
            <a:avLst/>
          </a:prstGeom>
          <a:solidFill>
            <a:srgbClr val="D6EDF6">
              <a:alpha val="35000"/>
            </a:srgbClr>
          </a:solidFill>
          <a:ln w="12700">
            <a:solidFill>
              <a:srgbClr val="D6E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91072" y="2596896"/>
            <a:ext cx="24414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long-term revenue pool. Commission on every specialist check-in, diagnostic, and pharmacy refill across chronic care journeys. No subscription. No patient payment. 85% of Practo's base already eligible — recurring, predictable, compounding.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91072" y="3995928"/>
            <a:ext cx="2441448" cy="18288"/>
          </a:xfrm>
          <a:prstGeom prst="rect">
            <a:avLst/>
          </a:prstGeom>
          <a:solidFill>
            <a:srgbClr val="5AB4D4">
              <a:alpha val="50000"/>
            </a:srgbClr>
          </a:solidFill>
          <a:ln w="1270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91072" y="407822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₹68–169 Cr revenue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91072" y="433425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months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8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REFER  ·  GP INCENTIVE 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ignore features. They adopt infrastructure.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87782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reasons GPs adopt Refer as professional infrastructure — not another platform feature.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216152"/>
            <a:ext cx="8321040" cy="22860"/>
          </a:xfrm>
          <a:prstGeom prst="rect">
            <a:avLst/>
          </a:prstGeom>
          <a:solidFill>
            <a:srgbClr val="5AB4D4"/>
          </a:solidFill>
          <a:ln w="1270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54864" cy="1463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7784" y="146304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41832" y="1490472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tracking dashboard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" y="182880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GPs lose visibility after referral. With Refer: they see appointment completion, diagnosis updates, specialist notes, and patient follow-through.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36008" y="137160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36008" y="1371600"/>
            <a:ext cx="54864" cy="1463040"/>
          </a:xfrm>
          <a:prstGeom prst="rect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82312" y="146304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66360" y="1490472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Medico-legal digital trail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66360" y="182880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referral records protect GPs legally — especially in delayed escalations, high-risk patients, and chronic cases. Professional infrastructure, not a booking feature.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944368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2944368"/>
            <a:ext cx="54864" cy="1463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7784" y="3035808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41832" y="306324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retention guarantee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832" y="3401568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Post-treatment patients are routed back to originating GP via Practo — strengthening practice continuity and GP lifetime value. Adoption gating: GPs must log ≥5 referrals to unlock return routing.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36008" y="2944368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36008" y="2944368"/>
            <a:ext cx="54864" cy="1463040"/>
          </a:xfrm>
          <a:prstGeom prst="rect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82312" y="3035808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166360" y="306324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Non-cash incentives only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6360" y="3401568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referral commissions create ethical risk. Instead: workflow tools, analytics, priority support, verified specialist network. Professional — not transactional.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8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MARKETPLACE  ·  HOSPITAL INCENTIVE 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don't need more patients. They need better-quality patient flow.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87782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Surgery Marketplace succeeds only if hospitals see it as operating economics improvement — not a listing.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216152"/>
            <a:ext cx="8321040" cy="22860"/>
          </a:xfrm>
          <a:prstGeom prst="rect">
            <a:avLst/>
          </a:prstGeom>
          <a:solidFill>
            <a:srgbClr val="5AB4D4"/>
          </a:solidFill>
          <a:ln w="1270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4114800" cy="54864"/>
          </a:xfrm>
          <a:prstGeom prst="rect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9496" y="1499616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517904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Elective surgery fill rate optimization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856232"/>
            <a:ext cx="3493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fills unused elective capacity with pre-screened, high-intent patients. Capacity monetization — a language hospital CFOs understand.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36008" y="137160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36008" y="1371600"/>
            <a:ext cx="4114800" cy="54864"/>
          </a:xfrm>
          <a:prstGeom prst="rect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64024" y="1499616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38928" y="1517904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+ payment certainty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38928" y="1856232"/>
            <a:ext cx="3493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 FY25: 30% TPA payer mix with 3–6.5% deductions. Practo escrow offers guaranteed payment within 7 days at 7–10% — structurally better quality revenue.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944368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2944368"/>
            <a:ext cx="4114800" cy="54864"/>
          </a:xfrm>
          <a:prstGeom prst="rect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9496" y="3072384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3090672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Pre-qualified patient pipeline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429000"/>
            <a:ext cx="3493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arrive with prior consultation, reports uploaded, financing confirmed, and surgery intent declared. Reduces conversion friction significantly.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36008" y="2944368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36008" y="2944368"/>
            <a:ext cx="4114800" cy="54864"/>
          </a:xfrm>
          <a:prstGeom prst="rect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64024" y="3072384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138928" y="3090672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CAC than offline marketing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38928" y="3429000"/>
            <a:ext cx="3493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Success-based commission only on confirmed procedures — provably cheaper than fixed marketing spend. The core commercial argument for CFO sign-off.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8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01  ·  PRACTO REFER  ·  CONSERVATIVE RAMP (2% Y1, 5% Y2)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GP referral behavior inside Ray — low friction, high GMV capture.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22860"/>
          </a:xfrm>
          <a:prstGeom prst="rect">
            <a:avLst/>
          </a:prstGeom>
          <a:solidFill>
            <a:srgbClr val="5AB4D4"/>
          </a:solidFill>
          <a:ln w="1270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397764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54864" cy="3794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15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1499616"/>
            <a:ext cx="292608" cy="292608"/>
          </a:xfrm>
          <a:prstGeom prst="lin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499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" y="14630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consults patient using existing Practo Ray software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22376" y="1801368"/>
            <a:ext cx="36576" cy="347472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185416"/>
            <a:ext cx="292608" cy="292608"/>
          </a:xfrm>
          <a:prstGeom prst="lin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185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8408" y="21488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 Practo Refer link — specialist, urgency, condition pre-filled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2376" y="2487168"/>
            <a:ext cx="36576" cy="347472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" y="2871216"/>
            <a:ext cx="292608" cy="292608"/>
          </a:xfrm>
          <a:prstGeom prst="lin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78408" y="28346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confirms booking in app in one tap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2376" y="3172968"/>
            <a:ext cx="36576" cy="347472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4360" y="3557016"/>
            <a:ext cx="292608" cy="292608"/>
          </a:xfrm>
          <a:prstGeom prst="lin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78408" y="35204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completes on Practo. Commission earned. Referral logged.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62272" y="987552"/>
            <a:ext cx="4270248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62272" y="987552"/>
            <a:ext cx="54864" cy="3794760"/>
          </a:xfrm>
          <a:prstGeom prst="rect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45152" y="11155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  ·  YEAR 1 (CONSERVATIVE)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645152" y="1463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clinics on Ray (estimate)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69480" y="14630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45152" y="1783080"/>
            <a:ext cx="3950208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45152" y="18379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activation rate (conservative)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69480" y="183794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45152" y="2157984"/>
            <a:ext cx="3950208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45152" y="22128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referrals generated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69480" y="22128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45152" y="2532888"/>
            <a:ext cx="3950208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45152" y="25877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conversion rate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69480" y="258775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→  200/mo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45152" y="2907792"/>
            <a:ext cx="3950208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45152" y="2962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secondary consult ticket (GMV)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69480" y="296265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45152" y="3282696"/>
            <a:ext cx="3950208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45152" y="33375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take rate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333756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45152" y="3657600"/>
            <a:ext cx="3950208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45152" y="37124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booking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69480" y="37124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45152" y="4087368"/>
            <a:ext cx="3950208" cy="530352"/>
          </a:xfrm>
          <a:prstGeom prst="rect">
            <a:avLst/>
          </a:prstGeom>
          <a:solidFill>
            <a:srgbClr val="FEF4E0"/>
          </a:solidFill>
          <a:ln w="889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73168" y="4169664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0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Practo Revenue:  Y1 ≈ ₹10.8 L  ·  Y2 (5% activation) ≈ ₹27 lakh  ·  Y3 ≈ ₹2 Cr (15% activation, 2 refs/GP/mo, 25% conversion across expanded Ray base)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8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02  ·  SURGERY MARKETPLACE  ·  COMMISSION SENSITIVITY + 9-MONTH ONBOARDING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shows what hospitals hide. Patients have never had this.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22860"/>
          </a:xfrm>
          <a:prstGeom prst="rect">
            <a:avLst/>
          </a:prstGeom>
          <a:solidFill>
            <a:srgbClr val="5AB4D4"/>
          </a:solidFill>
          <a:ln w="1270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00252"/>
            <a:ext cx="397764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54864" cy="3794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15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SENSITIVITY — HOLDS AT 7% FLOOR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007159"/>
              </p:ext>
            </p:extLst>
          </p:nvPr>
        </p:nvGraphicFramePr>
        <p:xfrm>
          <a:off x="594360" y="1444752"/>
          <a:ext cx="3621024" cy="1524000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surgery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bkgs/mo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Rev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(base)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40 L/mo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₹4.8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28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 (floor)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 L/mo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₹3.35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B9E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Viable 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(min)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 L/mo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₹2.4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09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278892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+ EMI + surgery concierge reduce marketplace leakage.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62272" y="987552"/>
            <a:ext cx="4270248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462272" y="987552"/>
            <a:ext cx="54864" cy="3794760"/>
          </a:xfrm>
          <a:prstGeom prst="rect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45152" y="11155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ONBOARDING TIMELINE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645152" y="1499616"/>
            <a:ext cx="201168" cy="201168"/>
          </a:xfrm>
          <a:prstGeom prst="line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27448" y="1709928"/>
            <a:ext cx="36576" cy="292608"/>
          </a:xfrm>
          <a:prstGeom prst="rect">
            <a:avLst/>
          </a:prstGeom>
          <a:solidFill>
            <a:srgbClr val="D0DFED"/>
          </a:solidFill>
          <a:ln w="12700">
            <a:solidFill>
              <a:srgbClr val="D0D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37760" y="146304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0–3</a:t>
            </a:r>
            <a:endParaRPr lang="en-US" sz="900" dirty="0"/>
          </a:p>
        </p:txBody>
      </p:sp>
      <p:sp>
        <p:nvSpPr>
          <p:cNvPr id="8" name="Text 13"/>
          <p:cNvSpPr/>
          <p:nvPr/>
        </p:nvSpPr>
        <p:spPr>
          <a:xfrm>
            <a:off x="5989320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outreach  ·  20 hospitals contacted  ·  Legal NDA sign-off required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45152" y="2039112"/>
            <a:ext cx="201168" cy="201168"/>
          </a:xfrm>
          <a:prstGeom prst="line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27448" y="2249424"/>
            <a:ext cx="36576" cy="292608"/>
          </a:xfrm>
          <a:prstGeom prst="rect">
            <a:avLst/>
          </a:prstGeom>
          <a:solidFill>
            <a:srgbClr val="D0DFED"/>
          </a:solidFill>
          <a:ln w="12700">
            <a:solidFill>
              <a:srgbClr val="D0D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937760" y="200253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89320" y="20025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negotiations  ·  3–5 LOIs signed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645152" y="2578608"/>
            <a:ext cx="201168" cy="201168"/>
          </a:xfrm>
          <a:prstGeom prst="line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727448" y="2788920"/>
            <a:ext cx="36576" cy="292608"/>
          </a:xfrm>
          <a:prstGeom prst="rect">
            <a:avLst/>
          </a:prstGeom>
          <a:solidFill>
            <a:srgbClr val="D0DFED"/>
          </a:solidFill>
          <a:ln w="12700">
            <a:solidFill>
              <a:srgbClr val="D0D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937760" y="254203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6–9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989320" y="25420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 ·  tech integration  ·  3 go live  ·  Surgical dept sign-off needed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645152" y="3118104"/>
            <a:ext cx="201168" cy="201168"/>
          </a:xfrm>
          <a:prstGeom prst="lin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727448" y="3328416"/>
            <a:ext cx="36576" cy="292608"/>
          </a:xfrm>
          <a:prstGeom prst="rect">
            <a:avLst/>
          </a:prstGeom>
          <a:solidFill>
            <a:srgbClr val="D0DFED"/>
          </a:solidFill>
          <a:ln w="12700">
            <a:solidFill>
              <a:srgbClr val="D0D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937760" y="308152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9–12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989320" y="30815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bookings  ·  Year 1 Practo revenue: ₹1.2 Cr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45152" y="3657600"/>
            <a:ext cx="201168" cy="201168"/>
          </a:xfrm>
          <a:prstGeom prst="lin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727448" y="3867912"/>
            <a:ext cx="36576" cy="292608"/>
          </a:xfrm>
          <a:prstGeom prst="rect">
            <a:avLst/>
          </a:prstGeom>
          <a:solidFill>
            <a:srgbClr val="D0DFED"/>
          </a:solidFill>
          <a:ln w="12700">
            <a:solidFill>
              <a:srgbClr val="D0D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937760" y="362102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12–18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989320" y="36210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hospitals  ·  300 </a:t>
            </a:r>
            <a:r>
              <a:rPr lang="en-US" sz="950" dirty="0" err="1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bkgs</a:t>
            </a: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  ·  ₹7.2 Cr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645152" y="4197096"/>
            <a:ext cx="201168" cy="201168"/>
          </a:xfrm>
          <a:prstGeom prst="lin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937760" y="41605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18–24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98932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hospitals  ·  500 bkgs/mo  ·  ₹12 Cr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645152" y="4535424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board filing: 90–120 days to relaunch an acquired hospital.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8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03  ·  PRACTO CHRONIC+  ·  THREE-SCENARIO MODEL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subscription. A commission engine on care journeys that already exist.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22860"/>
          </a:xfrm>
          <a:prstGeom prst="rect">
            <a:avLst/>
          </a:prstGeom>
          <a:solidFill>
            <a:srgbClr val="5AB4D4"/>
          </a:solidFill>
          <a:ln w="1270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5074920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54864" cy="2542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155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PER PATIENT  ·  ANNUAL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4398264" cy="17526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/ 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 check-in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4×/year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= ₹120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tests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4×/year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= ₹90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Pharmacy refill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12×/year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= ₹40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health check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1×/year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= ₹375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(full adherence)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09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₹1,695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11480" y="363931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PATIENT / YEAR — THREE SCENARIOS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11480" y="3886200"/>
            <a:ext cx="160020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11480" y="3886200"/>
            <a:ext cx="1600200" cy="54864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39776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2920" y="42245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adherence · 6 touchpoints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2920" y="442569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₹700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093976" y="3886200"/>
            <a:ext cx="1600200" cy="1005840"/>
          </a:xfrm>
          <a:prstGeom prst="rect">
            <a:avLst/>
          </a:prstGeom>
          <a:solidFill>
            <a:srgbClr val="EBF6FC"/>
          </a:solidFill>
          <a:ln w="1016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093976" y="3886200"/>
            <a:ext cx="1600200" cy="54864"/>
          </a:xfrm>
          <a:prstGeom prst="rect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4"/>
          <p:cNvSpPr/>
          <p:nvPr/>
        </p:nvSpPr>
        <p:spPr>
          <a:xfrm>
            <a:off x="2185416" y="39776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185416" y="42245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adherence · 12 touchpoints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185416" y="442569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₹1,100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3776472" y="3886200"/>
            <a:ext cx="160020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776472" y="3886200"/>
            <a:ext cx="1600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867912" y="39776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867912" y="42245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adherence · 21 touchpoints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867912" y="442569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₹1,440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321808" y="987552"/>
            <a:ext cx="3410712" cy="3904488"/>
          </a:xfrm>
          <a:prstGeom prst="rect">
            <a:avLst/>
          </a:prstGeom>
          <a:solidFill>
            <a:srgbClr val="0F2548"/>
          </a:solidFill>
          <a:ln w="8890">
            <a:solidFill>
              <a:srgbClr val="3B9EC4"/>
            </a:solidFill>
            <a:prstDash val="solid"/>
          </a:ln>
          <a:effectLst>
            <a:outerShdw blurRad="177800" dist="38100" dir="8100000" algn="bl" rotWithShape="0">
              <a:srgbClr val="1B3A6B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504688" y="1133856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matters.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504688" y="1554480"/>
            <a:ext cx="3044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Mature-scale potential (beyond Y3 roadmap):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patients (~1.2% of India's diagnosed NCD population)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504688" y="224028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₹700 Cr</a:t>
            </a:r>
            <a:endParaRPr lang="en-US" sz="3000" dirty="0"/>
          </a:p>
        </p:txBody>
      </p:sp>
      <p:sp>
        <p:nvSpPr>
          <p:cNvPr id="29" name="Text 26"/>
          <p:cNvSpPr/>
          <p:nvPr/>
        </p:nvSpPr>
        <p:spPr>
          <a:xfrm>
            <a:off x="5504688" y="285292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mature-scale scenario (40% adherence)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760720" y="3182112"/>
            <a:ext cx="2532888" cy="22860"/>
          </a:xfrm>
          <a:prstGeom prst="rect">
            <a:avLst/>
          </a:prstGeom>
          <a:solidFill>
            <a:srgbClr val="254D8F"/>
          </a:solidFill>
          <a:ln w="12700">
            <a:solidFill>
              <a:srgbClr val="254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504688" y="3255264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 roadmap: 400,000 patients enrolled (peak) → ₹28–57Cr Practo revenue (avg enrolled through year)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gated on 60-day engagement metrics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504688" y="3913632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Fortis Agilus: 39.2M diagnostic tests annually.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care infrastructure already exists.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8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 ·  PRACTO COMMISSION REVENUE (NOT GMV)  ·  RANGES REFLECT SCENARIOS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initiatives. One monetization logic.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85953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Success-based commission on every transaction. No upfront patient payments. No hospital subscription fees.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8321040" cy="22860"/>
          </a:xfrm>
          <a:prstGeom prst="rect">
            <a:avLst/>
          </a:prstGeom>
          <a:solidFill>
            <a:srgbClr val="5AB4D4"/>
          </a:solidFill>
          <a:ln w="1270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059393"/>
              </p:ext>
            </p:extLst>
          </p:nvPr>
        </p:nvGraphicFramePr>
        <p:xfrm>
          <a:off x="411480" y="1298448"/>
          <a:ext cx="8321040" cy="296265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Practo Refer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Surgery Mktpl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9E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Practo Chronic+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 (7–10%)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pays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Hospital/Clinic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+ Pharmacy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first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months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 gross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65–70%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 Practo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₹10.8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9E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₹1.2 Cr*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54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₹17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 Practo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₹27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9E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₹3.6–7.2 Cr†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54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₹32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Y3 Practo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9E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₹6–12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09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₹28–57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Moat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effect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F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Switching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47365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*Surgery Y1: 3 hospitals live from Month 9 only  ·  †Y2 at 300 bkgs/mo, Y3 at 500 bkgs/mo; range reflects 7%–10% commission (₹14,000–₹20,000/surgery)  ·  Refer margin 65–70% reflects BD field team cost; Surgery 80%+ is asset-light escrow; Chronic+ 70%+ reflects care coordinator staffing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8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PROJECTIONS  ·  RANGES NOT POINT ESTIMATES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revenue compounds across three initiatives.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22860"/>
          </a:xfrm>
          <a:prstGeom prst="rect">
            <a:avLst/>
          </a:prstGeom>
          <a:solidFill>
            <a:srgbClr val="5AB4D4"/>
          </a:solidFill>
          <a:ln w="1270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100250504"/>
              </p:ext>
            </p:extLst>
          </p:nvPr>
        </p:nvGraphicFramePr>
        <p:xfrm>
          <a:off x="411480" y="914400"/>
          <a:ext cx="5120640" cy="3584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96128" y="914400"/>
            <a:ext cx="313639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5596128" y="914400"/>
            <a:ext cx="3136392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24144" y="10424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SUMMARY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724144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combined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79792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 Cr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24144" y="1709928"/>
            <a:ext cx="2825496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24144" y="1901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combined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479792" y="19019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₹39.5 Cr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24144" y="2240280"/>
            <a:ext cx="2825496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24144" y="24323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combined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479792" y="24323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₹72 Cr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596128" y="3401568"/>
            <a:ext cx="3136392" cy="1261872"/>
          </a:xfrm>
          <a:prstGeom prst="rect">
            <a:avLst/>
          </a:prstGeom>
          <a:solidFill>
            <a:srgbClr val="FEF4E0"/>
          </a:solidFill>
          <a:ln w="10160">
            <a:solidFill>
              <a:srgbClr val="F5A623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724144" y="35204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Year 3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724144" y="37490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₹37-72 Cr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5724144" y="435254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commission revenue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8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 ·  HOSPITAL ONBOARDING: 9 MONTHS TO FIRST BOOKING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month execution blueprint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22860"/>
          </a:xfrm>
          <a:prstGeom prst="rect">
            <a:avLst/>
          </a:prstGeom>
          <a:solidFill>
            <a:srgbClr val="5AB4D4"/>
          </a:solidFill>
          <a:ln w="1270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01168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2011680" cy="54864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12471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21208" y="1408176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1208" y="1673352"/>
            <a:ext cx="1792224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1208" y="1856232"/>
            <a:ext cx="109728" cy="109728"/>
          </a:xfrm>
          <a:prstGeom prst="lin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" y="178308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Refer: pilot 500 GPs, Bangalore + Mumbai · Gated on Ray module sign-off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1208" y="2496312"/>
            <a:ext cx="109728" cy="109728"/>
          </a:xfrm>
          <a:prstGeom prst="lin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7512" y="242316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20 hospitals — 5 in active conversation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1208" y="3136392"/>
            <a:ext cx="109728" cy="109728"/>
          </a:xfrm>
          <a:prstGeom prst="lin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" y="306324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Chronic+: pharmacy API selection · Fortis Agilus pilot scoped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1208" y="4206240"/>
            <a:ext cx="1792224" cy="2286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" y="426110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10% pilot GPs issue ≥1 referral  ·  5 hospitals in discussion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96312" y="1005840"/>
            <a:ext cx="201168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96312" y="1005840"/>
            <a:ext cx="2011680" cy="54864"/>
          </a:xfrm>
          <a:prstGeom prst="rect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606040" y="112471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06040" y="1408176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06040" y="1673352"/>
            <a:ext cx="1792224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606040" y="1856232"/>
            <a:ext cx="109728" cy="109728"/>
          </a:xfrm>
          <a:prstGeom prst="line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52344" y="178308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Refer: expand to 5,000 GPs, 5 cities  ·  Field onboarding team required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06040" y="2496312"/>
            <a:ext cx="109728" cy="109728"/>
          </a:xfrm>
          <a:prstGeom prst="line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52344" y="242316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Surgery: 3–5 hospitals in LOI negotiation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06040" y="3136392"/>
            <a:ext cx="109728" cy="109728"/>
          </a:xfrm>
          <a:prstGeom prst="line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52344" y="306324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Chronic+ engineering; pharmacy contracts signed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06040" y="4206240"/>
            <a:ext cx="1792224" cy="22860"/>
          </a:xfrm>
          <a:prstGeom prst="rect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06040" y="426110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200 Refer bookings/month  ·  3 hospital LOIs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81144" y="1005840"/>
            <a:ext cx="201168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81144" y="1005840"/>
            <a:ext cx="201168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90872" y="112471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690872" y="1408176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90872" y="1673352"/>
            <a:ext cx="1792224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90872" y="1856232"/>
            <a:ext cx="109728" cy="109728"/>
          </a:xfrm>
          <a:prstGeom prst="lin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37176" y="178308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Surgery: 3 hospitals live (Month 9)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90872" y="2496312"/>
            <a:ext cx="109728" cy="109728"/>
          </a:xfrm>
          <a:prstGeom prst="lin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37176" y="242316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Refer: 20,000 GPs across 10 cities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90872" y="3136392"/>
            <a:ext cx="109728" cy="109728"/>
          </a:xfrm>
          <a:prstGeom prst="lin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37176" y="306324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Chronic+ beta: 10,000 patients enrolled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90872" y="4206240"/>
            <a:ext cx="1792224" cy="228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90872" y="426110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First surgery booking  ·  ₹3 Cr run-rate Month 12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665976" y="1005840"/>
            <a:ext cx="201168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665976" y="1005840"/>
            <a:ext cx="20116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775704" y="112471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775704" y="1408176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months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775704" y="1673352"/>
            <a:ext cx="1792224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775704" y="1856232"/>
            <a:ext cx="109728" cy="109728"/>
          </a:xfrm>
          <a:prstGeom prst="lin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922008" y="178308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Surgery: 15+ hospitals, 150 bkgs/month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775704" y="2496312"/>
            <a:ext cx="109728" cy="109728"/>
          </a:xfrm>
          <a:prstGeom prst="lin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922008" y="242316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Refer: standard across 100K+ Ray subscribers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775704" y="3136392"/>
            <a:ext cx="109728" cy="109728"/>
          </a:xfrm>
          <a:prstGeom prst="lin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922008" y="306324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Chronic+: 400K patients; insurance APIs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775704" y="4206240"/>
            <a:ext cx="1792224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775704" y="426110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₹90+ Cr expected annualized revenue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8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fail — and why we've designed around it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22860"/>
          </a:xfrm>
          <a:prstGeom prst="rect">
            <a:avLst/>
          </a:prstGeom>
          <a:solidFill>
            <a:srgbClr val="5AB4D4"/>
          </a:solidFill>
          <a:ln w="1270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21208" y="1197864"/>
            <a:ext cx="658368" cy="237744"/>
          </a:xfrm>
          <a:prstGeom prst="rect">
            <a:avLst/>
          </a:prstGeom>
          <a:solidFill>
            <a:srgbClr val="FEE2E2"/>
          </a:solidFill>
          <a:ln w="6350">
            <a:solidFill>
              <a:srgbClr val="C5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19786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80160" y="10789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commission pushback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1380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case shows viability at 7% floor. Escrow payment is structurally better than TPA deductions. Fortis (21.3% EBITDA) is the more receptive early partner.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8321040" cy="694944"/>
          </a:xfrm>
          <a:prstGeom prst="rect">
            <a:avLst/>
          </a:prstGeom>
          <a:solidFill>
            <a:srgbClr val="EBF6FC"/>
          </a:solidFill>
          <a:ln w="635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21208" y="1965960"/>
            <a:ext cx="658368" cy="237744"/>
          </a:xfrm>
          <a:prstGeom prst="rect">
            <a:avLst/>
          </a:prstGeom>
          <a:solidFill>
            <a:srgbClr val="FEE2E2"/>
          </a:solidFill>
          <a:ln w="6350">
            <a:solidFill>
              <a:srgbClr val="C5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1208" y="19659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280160" y="18470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adoption of Refer stays low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lives inside Ray software GPs already pay for. Four-part incentive design — continuity visibility, medico-legal trail, patient return guarantee, workflow tools — creates adoption inevitability, not just utility.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523744"/>
            <a:ext cx="83210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1208" y="2734056"/>
            <a:ext cx="658368" cy="237744"/>
          </a:xfrm>
          <a:prstGeom prst="rect">
            <a:avLst/>
          </a:prstGeom>
          <a:solidFill>
            <a:srgbClr val="FEF3C7"/>
          </a:solidFill>
          <a:ln w="6350">
            <a:solidFill>
              <a:srgbClr val="E09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" y="273405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0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280160" y="26151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onboarding beyond 9 months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29169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already models 9 months to first booking. Year 1 Practo revenue ₹1.2 Cr (3-month ramp). Apollo board filing supports this estimate.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291840"/>
            <a:ext cx="8321040" cy="694944"/>
          </a:xfrm>
          <a:prstGeom prst="rect">
            <a:avLst/>
          </a:prstGeom>
          <a:solidFill>
            <a:srgbClr val="EBF6FC"/>
          </a:solidFill>
          <a:ln w="635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21208" y="3502152"/>
            <a:ext cx="658368" cy="237744"/>
          </a:xfrm>
          <a:prstGeom prst="rect">
            <a:avLst/>
          </a:prstGeom>
          <a:solidFill>
            <a:srgbClr val="FEE2E2"/>
          </a:solidFill>
          <a:ln w="6350">
            <a:solidFill>
              <a:srgbClr val="C5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1208" y="350215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280160" y="33832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Chronic+ adherence lower than modeled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80160" y="3685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Three-scenario model: Conservative (₹700/patient), Expected (₹1,100), Optimistic (₹1,440). 60-day engagement gates Phase 3 expansion.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059936"/>
            <a:ext cx="832104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21208" y="4270248"/>
            <a:ext cx="658368" cy="237744"/>
          </a:xfrm>
          <a:prstGeom prst="rect">
            <a:avLst/>
          </a:prstGeom>
          <a:solidFill>
            <a:srgbClr val="FEF3C7"/>
          </a:solidFill>
          <a:ln w="6350">
            <a:solidFill>
              <a:srgbClr val="E09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1208" y="427024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0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280160" y="415137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/ Tata 1mg builds competing marketplace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80160" y="4453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can only list Apollo hospitals. Tata 1mg is pharmacy-first. Practo's multi-hospital independence is structurally unreplicable.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80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Practo — and why none of the obvious competitors can follow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321040" cy="22860"/>
          </a:xfrm>
          <a:prstGeom prst="rect">
            <a:avLst/>
          </a:prstGeom>
          <a:solidFill>
            <a:srgbClr val="5AB4D4"/>
          </a:solidFill>
          <a:ln w="1270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1148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1148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9496" y="1143000"/>
            <a:ext cx="274320" cy="274320"/>
          </a:xfrm>
          <a:prstGeom prst="lin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9496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170432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Multi-hospital independence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9496" y="1517904"/>
            <a:ext cx="3858768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9496" y="1591056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24/7 can only list Apollo hospitals. Tata 1mg is pharmacy-first. Practo is the only platform that can credibly compare Hospital A against Hospital B for the same procedure.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36008" y="1005840"/>
            <a:ext cx="41148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36008" y="1005840"/>
            <a:ext cx="4114800" cy="54864"/>
          </a:xfrm>
          <a:prstGeom prst="rect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64024" y="1143000"/>
            <a:ext cx="274320" cy="274320"/>
          </a:xfrm>
          <a:prstGeom prst="line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64024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38928" y="1170432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software incumbency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64024" y="1517904"/>
            <a:ext cx="3858768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64024" y="1591056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Ray is embedded in 100,000+ clinics. The Refer module is an extension of an existing paid product — no new relationship required. No competitor has this supply-side foothold.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2834640"/>
            <a:ext cx="41148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2834640"/>
            <a:ext cx="41148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39496" y="2971800"/>
            <a:ext cx="274320" cy="274320"/>
          </a:xfrm>
          <a:prstGeom prst="lin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9496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2999232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trust and brand recall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39496" y="3346704"/>
            <a:ext cx="3858768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9496" y="3419856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had the highest unaided healthcare app recall in our survey — 25 mentions vs. 4–5 for every competitor. Trust at the patient layer is the hardest asset in healthcare to build.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36008" y="2834640"/>
            <a:ext cx="41148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6"/>
            </a:solidFill>
            <a:prstDash val="solid"/>
          </a:ln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36008" y="2834640"/>
            <a:ext cx="41148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64024" y="2971800"/>
            <a:ext cx="274320" cy="274320"/>
          </a:xfrm>
          <a:prstGeom prst="lin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64024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38928" y="2999232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pricing data as compounding moat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64024" y="3346704"/>
            <a:ext cx="3858768" cy="22860"/>
          </a:xfrm>
          <a:prstGeom prst="rect">
            <a:avLst/>
          </a:prstGeom>
          <a:solidFill>
            <a:srgbClr val="E8EFF6"/>
          </a:solidFill>
          <a:ln w="12700">
            <a:solidFill>
              <a:srgbClr val="E8EF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64024" y="3419856"/>
            <a:ext cx="3858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D3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pricing database Practo builds becomes the reference point for procedure costs in India. Once Practo has 2+ years of negotiated data, any competitor must replicate that without the hospital relationships.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5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solved healthcare discovery.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through which healthcare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happens is what Practo builds next.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975104"/>
            <a:ext cx="54864" cy="438912"/>
          </a:xfrm>
          <a:prstGeom prst="rect">
            <a:avLst/>
          </a:prstGeom>
          <a:solidFill>
            <a:srgbClr val="5AB4D4"/>
          </a:solidFill>
          <a:ln w="12700">
            <a:solidFill>
              <a:srgbClr val="5AB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938528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Refer 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1938528"/>
            <a:ext cx="6163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GPs the routing layer for tertiary GMV — formalising the trusted-doctor relationship every Indian family already relies 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54864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2633472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Marketplace 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2633472"/>
            <a:ext cx="6163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1.7% that currently leaks offline — at ₹14,000–₹20,000 per transaction, the highest per-booking commission on the platform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364992"/>
            <a:ext cx="54864" cy="438912"/>
          </a:xfrm>
          <a:prstGeom prst="rect">
            <a:avLst/>
          </a:prstGeom>
          <a:solidFill>
            <a:srgbClr val="3B9EC4"/>
          </a:solidFill>
          <a:ln w="1270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3328416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B9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Chronic+ 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3328416"/>
            <a:ext cx="6163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85% of the patient base into recurring, predictable commission revenue — on care journeys that already exist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8229600" cy="822960"/>
          </a:xfrm>
          <a:prstGeom prst="rect">
            <a:avLst/>
          </a:prstGeom>
          <a:solidFill>
            <a:srgbClr val="254D8F"/>
          </a:solidFill>
          <a:ln w="7620">
            <a:solidFill>
              <a:srgbClr val="3B9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" y="4106779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 algn="just"/>
            <a:r>
              <a:rPr lang="en-US" b="1" dirty="0">
                <a:solidFill>
                  <a:srgbClr val="E09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90 - 129.5 Cr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960" y="4480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annual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Year 3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70632" y="4187952"/>
            <a:ext cx="22860" cy="640080"/>
          </a:xfrm>
          <a:prstGeom prst="rect">
            <a:avLst/>
          </a:prstGeom>
          <a:solidFill>
            <a:srgbClr val="718096">
              <a:alpha val="40000"/>
            </a:srgbClr>
          </a:solidFill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80360" y="41148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880360" y="4480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28032" y="4187952"/>
            <a:ext cx="22860" cy="640080"/>
          </a:xfrm>
          <a:prstGeom prst="rect">
            <a:avLst/>
          </a:prstGeom>
          <a:solidFill>
            <a:srgbClr val="718096">
              <a:alpha val="40000"/>
            </a:srgbClr>
          </a:solidFill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41148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0K+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37760" y="4480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clinics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network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85432" y="4187952"/>
            <a:ext cx="22860" cy="640080"/>
          </a:xfrm>
          <a:prstGeom prst="rect">
            <a:avLst/>
          </a:prstGeom>
          <a:solidFill>
            <a:srgbClr val="718096">
              <a:alpha val="40000"/>
            </a:srgbClr>
          </a:solidFill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95160" y="41148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₹14,811 Cr+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95160" y="4480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hospital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D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confirming gap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A99740-52DB-95BD-FF43-2B2EE6FFCB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69" b="9208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1996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7646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3201</Words>
  <Application>Microsoft Macintosh PowerPoint</Application>
  <PresentationFormat>On-screen Show (16:9)</PresentationFormat>
  <Paragraphs>470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Invisible GMV Gap — Practo</dc:title>
  <dc:subject>PptxGenJS Presentation</dc:subject>
  <dc:creator>Practo Strategy Team</dc:creator>
  <cp:lastModifiedBy>Chiranjeevi Bhoyar</cp:lastModifiedBy>
  <cp:revision>14</cp:revision>
  <dcterms:created xsi:type="dcterms:W3CDTF">2026-05-15T14:05:07Z</dcterms:created>
  <dcterms:modified xsi:type="dcterms:W3CDTF">2026-05-16T00:32:52Z</dcterms:modified>
</cp:coreProperties>
</file>