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63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0"/>
            <a:ext cx="553212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82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4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01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84048" y="47548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HUMMUSAPIENS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84048" y="1508760"/>
            <a:ext cx="2011680" cy="365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60934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Cultured. Creamy. Clever.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20299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THE BINGE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84048" y="27249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binge snack you won't regret later.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" y="3145536"/>
            <a:ext cx="4114800" cy="36576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32369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Funnel Digital Marketing Strategy · ₹10,00,000 Budget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4048" y="3566160"/>
            <a:ext cx="4389120" cy="621792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566160"/>
            <a:ext cx="4389120" cy="6217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Aadarsh Uniyal  ·  Adwitiya Yadav  ·  Chiranjeevi Bhoyar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4048" y="4315968"/>
            <a:ext cx="1609344" cy="237744"/>
          </a:xfrm>
          <a:prstGeom prst="roundRect">
            <a:avLst>
              <a:gd name="adj" fmla="val 50000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431596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Olive Oil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121408" y="4315968"/>
            <a:ext cx="1609344" cy="237744"/>
          </a:xfrm>
          <a:prstGeom prst="roundRect">
            <a:avLst>
              <a:gd name="adj" fmla="val 50000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21408" y="431596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Preservatives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858768" y="4315968"/>
            <a:ext cx="1609344" cy="237744"/>
          </a:xfrm>
          <a:prstGeom prst="roundRect">
            <a:avLst>
              <a:gd name="adj" fmla="val 50000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58768" y="431596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Protein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596128" y="4315968"/>
            <a:ext cx="1609344" cy="237744"/>
          </a:xfrm>
          <a:prstGeom prst="roundRect">
            <a:avLst>
              <a:gd name="adj" fmla="val 50000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96128" y="431596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Friendly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333488" y="4315968"/>
            <a:ext cx="1609344" cy="237744"/>
          </a:xfrm>
          <a:prstGeom prst="roundRect">
            <a:avLst>
              <a:gd name="adj" fmla="val 50000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33488" y="431596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Built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82296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doesn't need another healthy snack.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31520" y="162763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a binge snack people don't regret.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25237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 health brand. Not a diet brand. A snack brand."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0" y="2926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Hummusapiens Brand Manifesto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914400" y="3730752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3730752"/>
            <a:ext cx="7040880" cy="7498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not persuasion.  It is TRIAL - get them to taste it once and they convert at 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5204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20440" y="0"/>
            <a:ext cx="5623560" cy="5143500"/>
          </a:xfrm>
          <a:prstGeom prst="rect">
            <a:avLst/>
          </a:prstGeom>
          <a:solidFill>
            <a:srgbClr val="F5ECD7"/>
          </a:solidFill>
          <a:ln w="12700">
            <a:solidFill>
              <a:srgbClr val="F5ECD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749040" y="1828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4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STORY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749040" y="45720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health brand.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diet brand.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snack brand.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749040" y="1572768"/>
            <a:ext cx="2194560" cy="365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749040" y="1719072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86200" y="1764792"/>
            <a:ext cx="4956048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grew up in the UAE where hummus was just life. When I came back to India as a doctor, I spent 10 years getting it exactly right. This is for every Indian who deserves a snack that respects them."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86200" y="2880360"/>
            <a:ext cx="495604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Dr. Charles, Founder &amp; MBBS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749040" y="3218688"/>
            <a:ext cx="1664208" cy="1719072"/>
          </a:xfrm>
          <a:prstGeom prst="roundRect">
            <a:avLst>
              <a:gd name="adj" fmla="val 4396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49040" y="3218688"/>
            <a:ext cx="1664208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3310128"/>
            <a:ext cx="148132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food expires.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40480" y="3785616"/>
            <a:ext cx="14813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12-day shelf life.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proudly.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13832" y="3218688"/>
            <a:ext cx="1664208" cy="1719072"/>
          </a:xfrm>
          <a:prstGeom prst="roundRect">
            <a:avLst>
              <a:gd name="adj" fmla="val 4396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13832" y="3218688"/>
            <a:ext cx="1664208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05272" y="3310128"/>
            <a:ext cx="148132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recipe.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05272" y="3785616"/>
            <a:ext cx="14813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it exactly right.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278624" y="3218688"/>
            <a:ext cx="1664208" cy="1719072"/>
          </a:xfrm>
          <a:prstGeom prst="roundRect">
            <a:avLst>
              <a:gd name="adj" fmla="val 4396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78624" y="3218688"/>
            <a:ext cx="1664208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70064" y="3310128"/>
            <a:ext cx="148132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snack that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you.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70064" y="3785616"/>
            <a:ext cx="14813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doctor.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&amp; WHO WE'RE TALKING 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048256" cy="137160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82296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 Cr+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1389888"/>
            <a:ext cx="2048256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Snacking Market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1682496"/>
            <a:ext cx="20482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alt. +22% YoY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432304" y="749808"/>
            <a:ext cx="2048256" cy="1371600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32304" y="82296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32304" y="1389888"/>
            <a:ext cx="2048256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→ Purchase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32304" y="1682496"/>
            <a:ext cx="20482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converts when tasted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08576" y="749808"/>
            <a:ext cx="2048256" cy="1371600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82296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08576" y="1389888"/>
            <a:ext cx="2048256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08576" y="1682496"/>
            <a:ext cx="20482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&amp; repeat friendly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784848" y="749808"/>
            <a:ext cx="2048256" cy="13716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84848" y="82296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84848" y="1389888"/>
            <a:ext cx="2048256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Life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84848" y="1682496"/>
            <a:ext cx="20482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"Real food expires."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2267712"/>
            <a:ext cx="2816352" cy="2697480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267712"/>
            <a:ext cx="2816352" cy="54864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Professional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2688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24–32 · ₹6–15L · Blr/Mum/Gurgaon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926080"/>
            <a:ext cx="2560320" cy="36576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017520"/>
            <a:ext cx="25603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"Healthy enough" mindset. Snacks at WFH. Guilt-driven. Mass adoption audience.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4645152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6451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EVERYMAN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0" y="2267712"/>
            <a:ext cx="2816352" cy="2697480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267712"/>
            <a:ext cx="2816352" cy="54864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28416" y="2688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28–40 · ₹8–20L · Metro cities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28416" y="2926080"/>
            <a:ext cx="2560320" cy="36576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3017520"/>
            <a:ext cx="25603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labels. Trusts doctor-built brands. High LTV. Subscription-ready.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28416" y="4645152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46451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44768" y="2267712"/>
            <a:ext cx="2816352" cy="2697480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2267712"/>
            <a:ext cx="2816352" cy="54864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Snacker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72784" y="2688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21–30 · ₹3–10L · Mum/Delhi/Goa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72784" y="2926080"/>
            <a:ext cx="2560320" cy="36576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3017520"/>
            <a:ext cx="25603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= social currency. Discovers via creators. Buys impulsively. UGC generator.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72784" y="4645152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46451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IN THE HUMMUS CATEGORY - WE'RE IN THE DIP HABIT.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4187952" cy="4224528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804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Competitors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" y="11155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 Wingreens. Not Del Monte. The fight is against the chip-and-dip habit</a:t>
            </a: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0624" y="1664208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0624" y="1664208"/>
            <a:ext cx="54864" cy="475488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00784"/>
            <a:ext cx="3474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Lay's Dips &amp; Cheese Spread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" y="2231136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" y="2231136"/>
            <a:ext cx="54864" cy="475488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67712"/>
            <a:ext cx="3474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&amp; Processed Sauces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" y="2798064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" y="2798064"/>
            <a:ext cx="54864" cy="475488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34640"/>
            <a:ext cx="3474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Raita &amp; Packaged Chutneys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" y="3364992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" y="3364992"/>
            <a:ext cx="54864" cy="475488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3474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eaten mindlessly, guiltily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" y="3913632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5ECD7"/>
          </a:solidFill>
          <a:ln w="12700">
            <a:solidFill>
              <a:srgbClr val="F5EC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913632"/>
            <a:ext cx="374904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"Snacking guilt is the dumbest tax ever paid."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26864" y="749808"/>
            <a:ext cx="4261104" cy="4224528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2843784"/>
            <a:ext cx="4261104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9128" y="749808"/>
            <a:ext cx="36576" cy="422452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926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607808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CRAVEABLE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812280" y="795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12280" y="47274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284135" y="1602395"/>
            <a:ext cx="219456" cy="153619"/>
          </a:xfrm>
          <a:prstGeom prst="lin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9311" y="15329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Monte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710245" y="2996489"/>
            <a:ext cx="219456" cy="153619"/>
          </a:xfrm>
          <a:prstGeom prst="lin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5421" y="292699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Wingreens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72867" y="3854196"/>
            <a:ext cx="182880" cy="128016"/>
          </a:xfrm>
          <a:prstGeom prst="line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01467" y="37719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brands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306800" y="2447300"/>
            <a:ext cx="219456" cy="153619"/>
          </a:xfrm>
          <a:prstGeom prst="lin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976" y="237780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Epigamia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898977" y="3431743"/>
            <a:ext cx="182880" cy="128016"/>
          </a:xfrm>
          <a:prstGeom prst="lin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7577" y="334944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Lay's Dips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673279" y="2220712"/>
            <a:ext cx="384048" cy="268834"/>
          </a:xfrm>
          <a:prstGeom prst="line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42343" y="220882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HUMMUSAPIENS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85249" y="1172261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5ECD7"/>
          </a:solidFill>
          <a:ln w="10160">
            <a:solidFill>
              <a:srgbClr val="E8D5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85249" y="1172261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FLAVOURS. ONE PROMISE.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4389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250ml  ·  Fresh for 12 days  ·  ₹299  ·  Olive Oil  ·  Zero Preservatives  ·  Doctor Built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68096"/>
            <a:ext cx="2743200" cy="1993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2176272"/>
            <a:ext cx="2743200" cy="585216"/>
          </a:xfrm>
          <a:prstGeom prst="rect">
            <a:avLst/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O.G.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2468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Classic. Creamy. Inevitable.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768096"/>
            <a:ext cx="2743200" cy="19933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127248" y="2176272"/>
            <a:ext cx="2743200" cy="585216"/>
          </a:xfrm>
          <a:prstGeom prst="rect">
            <a:avLst/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18688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Paprika Twist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18688" y="2468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Warm. Smoky. Slightly sweet.</a:t>
            </a:r>
            <a:endParaRPr lang="en-US" sz="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896" y="768096"/>
            <a:ext cx="2743200" cy="199339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25896" y="2176272"/>
            <a:ext cx="2743200" cy="585216"/>
          </a:xfrm>
          <a:prstGeom prst="rect">
            <a:avLst/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117336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Beetrooter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117336" y="2468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Depth. Drama. Colour.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944368"/>
            <a:ext cx="2743200" cy="19933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228600" y="4352544"/>
            <a:ext cx="2743200" cy="585216"/>
          </a:xfrm>
          <a:prstGeom prst="rect">
            <a:avLst/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2004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Jalapeño Punch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20040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Sharp. Bold. Converts people.</a:t>
            </a:r>
            <a:endParaRPr lang="en-US" sz="8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248" y="2944368"/>
            <a:ext cx="2743200" cy="199339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127248" y="4352544"/>
            <a:ext cx="2743200" cy="585216"/>
          </a:xfrm>
          <a:prstGeom prst="rect">
            <a:avLst/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3218688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Caramelized Kick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218688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Slow-cooked. Showstopper.</a:t>
            </a:r>
            <a:endParaRPr lang="en-US" sz="8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5896" y="2944368"/>
            <a:ext cx="2743200" cy="199339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025896" y="4352544"/>
            <a:ext cx="2743200" cy="585216"/>
          </a:xfrm>
          <a:prstGeom prst="rect">
            <a:avLst/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117336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Coco Muse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117336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dessert. Not a compromise.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THE BINGE - FULL FUNNEL STRATEGY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31520"/>
            <a:ext cx="4023360" cy="4224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34840" y="731520"/>
            <a:ext cx="4828032" cy="786384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44568" y="777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44568" y="1069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+ Q-Commerce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720840" y="804672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· Sampling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trial-to-purchase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315200" y="1234440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06056" y="119329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GROWTH ENGINE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553712" y="1609344"/>
            <a:ext cx="4590288" cy="786384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16550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63440" y="1947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Reels + Influencers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39712" y="1682496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before intent exists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343897" y="2117112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96912" y="211912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Budget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72584" y="2487168"/>
            <a:ext cx="4352544" cy="786384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5"/>
          <p:cNvSpPr/>
          <p:nvPr/>
        </p:nvSpPr>
        <p:spPr>
          <a:xfrm>
            <a:off x="4782312" y="2532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82312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+ Google Search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958584" y="2560320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story builds trust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366854" y="3014861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43897" y="304112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 Budget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791456" y="3364992"/>
            <a:ext cx="4114800" cy="7863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01184" y="3410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901184" y="3703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Retargeting + WhatsApp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077456" y="3438144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checkout friction · COD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388352" y="3826764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66854" y="382676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Budget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4910328" y="4242816"/>
            <a:ext cx="3877056" cy="7863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0056" y="4288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20056" y="4581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Email · Loyalty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196328" y="4315968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purchase = business viability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415784" y="4718304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3D1010"/>
          </a:solidFill>
          <a:ln w="12700">
            <a:solidFill>
              <a:srgbClr val="3D101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15784" y="470916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Focus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- UPGRADE THE BINGE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5488"/>
            <a:ext cx="466344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74920" y="475488"/>
            <a:ext cx="1920240" cy="15727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74920" y="475488"/>
            <a:ext cx="1920240" cy="54864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66360" y="603504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0" y="603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166360" y="877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Snack, Upgraded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66360" y="11887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binge. Just better.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66360" y="1700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Reels · Awareness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059168" y="475488"/>
            <a:ext cx="1920240" cy="15727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59168" y="475488"/>
            <a:ext cx="1920240" cy="54864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50608" y="603504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50608" y="603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150608" y="877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Personality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50608" y="11887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a favourite.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150608" y="1700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Reels · Stories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074920" y="2194560"/>
            <a:ext cx="1920240" cy="15727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74920" y="2194560"/>
            <a:ext cx="1920240" cy="54864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66360" y="2322576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0" y="23225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166360" y="25968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Built This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66360" y="29077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built this snack."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66360" y="34198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Reels · YouTube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059168" y="2194560"/>
            <a:ext cx="1920240" cy="15727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59168" y="2194560"/>
            <a:ext cx="19202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50608" y="2322576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50608" y="23225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150608" y="25968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Box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150608" y="29077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all 6. Free shipping.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50608" y="34198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Reels · Retargeting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28600" y="3858768"/>
            <a:ext cx="8686800" cy="1115568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" y="3913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₹80-120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475488" y="4416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1773936" y="4005072"/>
            <a:ext cx="36576" cy="621792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920240" y="3913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1920240" y="4416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18688" y="4005072"/>
            <a:ext cx="36576" cy="621792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364992" y="3913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3364992" y="4416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663440" y="4005072"/>
            <a:ext cx="36576" cy="621792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09744" y="3913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3.5x+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4809744" y="4416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108192" y="4005072"/>
            <a:ext cx="36576" cy="621792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54496" y="3913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₹200-280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6254496" y="4416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552944" y="4005072"/>
            <a:ext cx="36576" cy="621792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99248" y="3913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49" name="Text 46"/>
          <p:cNvSpPr/>
          <p:nvPr/>
        </p:nvSpPr>
        <p:spPr>
          <a:xfrm>
            <a:off x="7699248" y="4416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Convert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DISCOVERY HAPPENS. WHERE PURCHASE CONVERTS.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731520"/>
            <a:ext cx="4114800" cy="3730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768096"/>
            <a:ext cx="4407408" cy="603504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768096"/>
            <a:ext cx="64008" cy="603504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8046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/ Instamart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304288" y="813816"/>
            <a:ext cx="1115568" cy="201168"/>
          </a:xfrm>
          <a:prstGeom prst="roundRect">
            <a:avLst>
              <a:gd name="adj" fmla="val 50000"/>
            </a:avLst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04288" y="8138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Engine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0789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impulse. 10-min delivery.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rank = growth lever.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28600" y="1463040"/>
            <a:ext cx="4407408" cy="603504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" y="1463040"/>
            <a:ext cx="64008" cy="6035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1499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Commerce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304288" y="1508760"/>
            <a:ext cx="1115568" cy="201168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04288" y="150876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84048" y="17739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checkout friction. COD-friendly.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Re-order via broadcast lists.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28600" y="2157984"/>
            <a:ext cx="4407408" cy="603504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8600" y="2157984"/>
            <a:ext cx="64008" cy="603504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2194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Website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304288" y="2203704"/>
            <a:ext cx="1115568" cy="201168"/>
          </a:xfrm>
          <a:prstGeom prst="roundRect">
            <a:avLst>
              <a:gd name="adj" fmla="val 50000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04288" y="220370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Home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84048" y="24688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margin. Owns data.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'Build Your Box' CTA.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28600" y="2852928"/>
            <a:ext cx="4407408" cy="603504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8600" y="2852928"/>
            <a:ext cx="64008" cy="603504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2889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304288" y="2898648"/>
            <a:ext cx="1115568" cy="201168"/>
          </a:xfrm>
          <a:prstGeom prst="roundRect">
            <a:avLst>
              <a:gd name="adj" fmla="val 50000"/>
            </a:avLst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04288" y="289864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84048" y="316382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&amp; Save for ICP 2.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= social proof.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28600" y="3547872"/>
            <a:ext cx="4407408" cy="603504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28600" y="3547872"/>
            <a:ext cx="64008" cy="60350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" y="3584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304288" y="3593592"/>
            <a:ext cx="1115568" cy="201168"/>
          </a:xfrm>
          <a:prstGeom prst="roundRect">
            <a:avLst>
              <a:gd name="adj" fmla="val 50000"/>
            </a:avLst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04288" y="359359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Lock-In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84048" y="38587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6-flavour box. ₹1,599/mo.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re-acquisition cost.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228600" y="4261104"/>
            <a:ext cx="4407408" cy="658368"/>
          </a:xfrm>
          <a:prstGeom prst="roundRect">
            <a:avLst>
              <a:gd name="adj" fmla="val 11111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4261104"/>
            <a:ext cx="4242816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trial is the #1 growth lever - 50% trial-to-purchase conversion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 ·  OPTIMIZATION FRAMEWORK  ·  SUCCESS METRICS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₹10,00,000 Budget Split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₹10,00,000 Budget Split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42416"/>
            <a:ext cx="2852928" cy="438912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4241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36392" y="1042416"/>
            <a:ext cx="2852928" cy="438912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104241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16752" y="1042416"/>
            <a:ext cx="1207008" cy="438912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6752" y="104241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51192" y="1042416"/>
            <a:ext cx="795528" cy="4389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192" y="104241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4152" y="1042416"/>
            <a:ext cx="384048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4152" y="104241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1572768"/>
            <a:ext cx="1609344" cy="640080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572768"/>
            <a:ext cx="1609344" cy="4572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645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Activations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9184" y="18653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· Sampling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9184" y="20299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₹3,50,000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911096" y="1572768"/>
            <a:ext cx="1609344" cy="640080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11096" y="1572768"/>
            <a:ext cx="1609344" cy="45720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84248" y="1645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 Content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84248" y="18653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· Creative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984248" y="20299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₹3,50,000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566160" y="1572768"/>
            <a:ext cx="1609344" cy="640080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6160" y="1572768"/>
            <a:ext cx="1609344" cy="45720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1645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39312" y="18653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creators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39312" y="20299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D4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221224" y="1572768"/>
            <a:ext cx="1609344" cy="640080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21224" y="1572768"/>
            <a:ext cx="1609344" cy="457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94376" y="1645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+ YouTube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94376" y="18653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Pre-roll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94376" y="20299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876288" y="1572768"/>
            <a:ext cx="1609344" cy="640080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76288" y="1572768"/>
            <a:ext cx="1609344" cy="457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1645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/ CRM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49440" y="18653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Email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949440" y="20299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56032" y="1472184"/>
            <a:ext cx="8229600" cy="3657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176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Framework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6032" y="2377440"/>
            <a:ext cx="2798064" cy="2542032"/>
          </a:xfrm>
          <a:prstGeom prst="roundRect">
            <a:avLst>
              <a:gd name="adj" fmla="val 2878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" y="2377440"/>
            <a:ext cx="2798064" cy="54864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" y="2487168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24871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335024" y="25786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84048" y="2980944"/>
            <a:ext cx="25237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2980944"/>
            <a:ext cx="54864" cy="512064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3017520"/>
            <a:ext cx="234086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hooks per ad set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84048" y="3584448"/>
            <a:ext cx="25237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048" y="3584448"/>
            <a:ext cx="54864" cy="512064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" y="3621024"/>
            <a:ext cx="234086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A/B: Reels vs Carousel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84048" y="4187952"/>
            <a:ext cx="25237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4048" y="4187952"/>
            <a:ext cx="54864" cy="512064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" y="4224528"/>
            <a:ext cx="234086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Kill: CPM &gt;₹150 or CTR &lt;1% in 5 days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054096" y="34747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3163824" y="2377440"/>
            <a:ext cx="2798064" cy="2542032"/>
          </a:xfrm>
          <a:prstGeom prst="roundRect">
            <a:avLst>
              <a:gd name="adj" fmla="val 2878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63824" y="2377440"/>
            <a:ext cx="2798064" cy="54864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91840" y="2487168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0" y="24871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242816" y="25786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291840" y="2980944"/>
            <a:ext cx="25237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91840" y="2980944"/>
            <a:ext cx="54864" cy="512064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01568" y="3017520"/>
            <a:ext cx="234086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spend on top creatives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91840" y="3584448"/>
            <a:ext cx="25237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91840" y="3584448"/>
            <a:ext cx="54864" cy="512064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01568" y="3621024"/>
            <a:ext cx="234086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best ICP lookalike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91840" y="4187952"/>
            <a:ext cx="25237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91840" y="4187952"/>
            <a:ext cx="54864" cy="512064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01568" y="4224528"/>
            <a:ext cx="234086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Google as search builds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961888" y="34747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6071616" y="2377440"/>
            <a:ext cx="2798064" cy="2542032"/>
          </a:xfrm>
          <a:prstGeom prst="roundRect">
            <a:avLst>
              <a:gd name="adj" fmla="val 2878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71616" y="2377440"/>
            <a:ext cx="2798064" cy="5486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99632" y="2487168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99632" y="24871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150608" y="25786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199632" y="2980944"/>
            <a:ext cx="25237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199632" y="2980944"/>
            <a:ext cx="54864" cy="51206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09360" y="3017520"/>
            <a:ext cx="234086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reorder sequences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199632" y="3584448"/>
            <a:ext cx="25237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99632" y="3584448"/>
            <a:ext cx="54864" cy="51206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3621024"/>
            <a:ext cx="234086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Flavour Collective loyalty live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199632" y="4187952"/>
            <a:ext cx="25237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199632" y="4187952"/>
            <a:ext cx="54864" cy="51206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09360" y="4224528"/>
            <a:ext cx="234086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for LTV not just CPA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STRATEGY  ·  SUCCESS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631936" cy="438912"/>
          </a:xfrm>
          <a:prstGeom prst="roundRect">
            <a:avLst>
              <a:gd name="adj" fmla="val 16667"/>
            </a:avLst>
          </a:prstGeom>
          <a:solidFill>
            <a:srgbClr val="F5ECD7"/>
          </a:solidFill>
          <a:ln w="12700">
            <a:solidFill>
              <a:srgbClr val="F5E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31520"/>
            <a:ext cx="8631936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"First purchase proves curiosity.  Second purchase proves business viability."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128016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Retention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572768"/>
            <a:ext cx="4160520" cy="438912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572768"/>
            <a:ext cx="54864" cy="438912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609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" y="178308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cult. Which flavour are you?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2093976"/>
            <a:ext cx="4160520" cy="438912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093976"/>
            <a:ext cx="54864" cy="438912"/>
          </a:xfrm>
          <a:prstGeom prst="rect">
            <a:avLst/>
          </a:prstGeom>
          <a:solidFill>
            <a:srgbClr val="7A2222"/>
          </a:solidFill>
          <a:ln w="12700">
            <a:solidFill>
              <a:srgbClr val="7A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1305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230428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pic → get 10% off your next order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615184"/>
            <a:ext cx="4160520" cy="438912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615184"/>
            <a:ext cx="54864" cy="438912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6517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4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82549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low? Reorder + try a new flavour.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136392"/>
            <a:ext cx="4160520" cy="438912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136392"/>
            <a:ext cx="54864" cy="4389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1729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" y="334670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miss you. Come back with 15% off.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" y="376732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Flavour Collective — Loyalty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4059936"/>
            <a:ext cx="1335024" cy="804672"/>
          </a:xfrm>
          <a:prstGeom prst="roundRect">
            <a:avLst>
              <a:gd name="adj" fmla="val 9091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" y="411480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DIPPER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6032" y="4370832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buy · Free shipping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64208" y="4059936"/>
            <a:ext cx="1335024" cy="804672"/>
          </a:xfrm>
          <a:prstGeom prst="roundRect">
            <a:avLst>
              <a:gd name="adj" fmla="val 9091"/>
            </a:avLst>
          </a:prstGeom>
          <a:solidFill>
            <a:srgbClr val="F5ECD7"/>
          </a:solidFill>
          <a:ln w="12700">
            <a:solidFill>
              <a:srgbClr val="F5ECD7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664208" y="411480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SAVANT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64208" y="4370832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· Early access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072384" y="4059936"/>
            <a:ext cx="1335024" cy="804672"/>
          </a:xfrm>
          <a:prstGeom prst="roundRect">
            <a:avLst>
              <a:gd name="adj" fmla="val 9091"/>
            </a:avLst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072384" y="411480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HUMMUSAPIEN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072384" y="4370832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· Co-create flavour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63440" y="1280160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— 3-Month Targets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1572768"/>
            <a:ext cx="4224528" cy="694944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1572768"/>
            <a:ext cx="64008" cy="694944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1618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9744" y="18470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5L reach · ₹80–120 CPM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9744" y="20299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25L+ reach · 40%+ view rate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359152"/>
            <a:ext cx="4224528" cy="694944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359152"/>
            <a:ext cx="64008" cy="694944"/>
          </a:xfrm>
          <a:prstGeom prst="rect">
            <a:avLst/>
          </a:prstGeom>
          <a:solidFill>
            <a:srgbClr val="D4691E"/>
          </a:solidFill>
          <a:ln w="12700">
            <a:solidFill>
              <a:srgbClr val="D469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9744" y="2404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4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9744" y="26334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1.5%+ CTR · 5K visits/mo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09744" y="28163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2.5%+ CTR · 20K visits/mo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145536"/>
            <a:ext cx="4224528" cy="694944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145536"/>
            <a:ext cx="64008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31912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09744" y="3419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200–300 orders · 2x ROAS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9744" y="36027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800–1,200 orders · 3.5x ROAS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3931920"/>
            <a:ext cx="4224528" cy="694944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3931920"/>
            <a:ext cx="64008" cy="69494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977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09744" y="4206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15% repeat · ₹800 LTV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09744" y="4389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30%+ repeat · ₹1,800+ LTV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4736592"/>
            <a:ext cx="4224528" cy="310896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4736592"/>
            <a:ext cx="4224528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 → 3.5x ROAS  ·  1,000–1,500 orders  ·  35–50L reach by Month 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306111" y="0"/>
            <a:ext cx="4837889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1828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4048" y="45720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Binge.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84048" y="1755648"/>
            <a:ext cx="2286000" cy="365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1901952"/>
            <a:ext cx="446227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1901952"/>
            <a:ext cx="73152" cy="4937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1938528"/>
            <a:ext cx="424281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is the business model. Meta creates desire, sampling converts.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4048" y="2487168"/>
            <a:ext cx="446227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" y="2487168"/>
            <a:ext cx="73152" cy="4937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2523744"/>
            <a:ext cx="424281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story builds trust no competitor can replicate.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4048" y="3072384"/>
            <a:ext cx="446227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" y="3072384"/>
            <a:ext cx="73152" cy="4937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3108960"/>
            <a:ext cx="424281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in the hummus category - we're in the dip habit.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048" y="3657600"/>
            <a:ext cx="446227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" y="3657600"/>
            <a:ext cx="73152" cy="4937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3694176"/>
            <a:ext cx="424281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purchase proves business viability - not the first.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4048" y="4242816"/>
            <a:ext cx="446227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4048" y="4242816"/>
            <a:ext cx="73152" cy="4937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4279392"/>
            <a:ext cx="424281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is the brand's cheapest and most visible ad.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4048" y="4846320"/>
            <a:ext cx="4462272" cy="237744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4846320"/>
            <a:ext cx="446227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 → 3.5x ROAS by M3  ·  1,000–1,500 orders  ·  35–50L reach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074920" y="1965960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074920" y="257860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74920" y="299923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74920" y="345643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5074920" y="38404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1141</Words>
  <Application>Microsoft Office PowerPoint</Application>
  <PresentationFormat>On-screen Show (16:9)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Hummusapiens — Upgrade the Binge — Final Capstone</dc:title>
  <dc:subject>PptxGenJS Presentation</dc:subject>
  <dc:creator>Group 01</dc:creator>
  <cp:lastModifiedBy>Adwitiya Yadav</cp:lastModifiedBy>
  <cp:revision>3</cp:revision>
  <dcterms:created xsi:type="dcterms:W3CDTF">2026-05-25T20:18:15Z</dcterms:created>
  <dcterms:modified xsi:type="dcterms:W3CDTF">2026-05-25T20:46:01Z</dcterms:modified>
</cp:coreProperties>
</file>